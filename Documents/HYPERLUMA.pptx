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6492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7D7D"/>
                </a:solidFill>
                <a:latin typeface="Aptos"/>
              </a:defRPr>
            </a:pPr>
            <a:r>
              <a:rPr dirty="0"/>
              <a:t>HYPERLUMA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19072"/>
            <a:ext cx="585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2263F"/>
                </a:solidFill>
                <a:latin typeface="Aptos"/>
              </a:defRPr>
            </a:pPr>
            <a:r>
              <a:rPr dirty="0"/>
              <a:t>AI-Powered Retinal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30403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7482"/>
                </a:solidFill>
                <a:latin typeface="Aptos"/>
              </a:defRPr>
            </a:pPr>
            <a:r>
              <a:rPr dirty="0"/>
              <a:t>Fundus Imaging  •  Hyperspectral Imaging  •  Deep Learning  •  Explainable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5486400"/>
            <a:ext cx="123444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3974" y="5482883"/>
            <a:ext cx="50292" cy="59436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9160" y="56235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63F"/>
                </a:solidFill>
                <a:latin typeface="Aptos"/>
              </a:defRPr>
            </a:pPr>
            <a:r>
              <a:rPr dirty="0"/>
              <a:t>RGB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3046" y="5486400"/>
            <a:ext cx="123444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06450" y="5486400"/>
            <a:ext cx="50292" cy="59436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56235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63F"/>
                </a:solidFill>
                <a:latin typeface="Aptos"/>
              </a:defRPr>
            </a:pPr>
            <a:r>
              <a:rPr dirty="0"/>
              <a:t>HSI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47260" y="5482883"/>
            <a:ext cx="123444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59808" y="5468815"/>
            <a:ext cx="50292" cy="5943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54702" y="5605975"/>
            <a:ext cx="960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263F"/>
                </a:solidFill>
                <a:latin typeface="Aptos"/>
              </a:defRPr>
            </a:pPr>
            <a:r>
              <a:rPr lang="en-US" dirty="0"/>
              <a:t>X</a:t>
            </a:r>
            <a:r>
              <a:rPr dirty="0"/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419" y="5574323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77482"/>
                </a:solidFill>
                <a:latin typeface="Aptos"/>
              </a:defRPr>
            </a:pPr>
            <a:r>
              <a:rPr dirty="0"/>
              <a:t>RESEARCH</a:t>
            </a:r>
            <a:br>
              <a:rPr dirty="0"/>
            </a:br>
            <a:r>
              <a:rPr dirty="0"/>
              <a:t>PLATFORM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94DF3C6-FF38-D4B7-300A-6F866B46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205" y="395425"/>
            <a:ext cx="6219449" cy="4135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The Challenge in Retinal Healthcare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876" y="1234440"/>
            <a:ext cx="52120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0292" cy="448056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8196" y="148139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rPr dirty="0"/>
              <a:t>KEY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13D"/>
                </a:solidFill>
                <a:latin typeface="Aptos"/>
              </a:defRPr>
            </a:pPr>
            <a:r>
              <a:t>Limited availability of ophthalmologists in rural regions</a:t>
            </a:r>
            <a:br/>
            <a:br/>
            <a:r>
              <a:t>Conventional screening can be specialist-dependent</a:t>
            </a:r>
            <a:br/>
            <a:br/>
            <a:r>
              <a:t>Large-scale screening is time-consuming</a:t>
            </a:r>
            <a:br/>
            <a:br/>
            <a:r>
              <a:t>Subtle retinal abnormalities may be difficult to identify</a:t>
            </a:r>
            <a:br/>
            <a:br/>
            <a:r>
              <a:t>Standard RGB imaging provides limited spectral information</a:t>
            </a:r>
            <a:br/>
            <a:br/>
            <a:r>
              <a:t>Advanced imaging infrastructure can be difficult to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263F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313D"/>
                </a:solidFill>
                <a:latin typeface="Aptos"/>
              </a:defRPr>
            </a:pPr>
            <a:r>
              <a:t>A portable, AI-assisted system that can analyze retinal images and provide interpretable screening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71800"/>
            <a:ext cx="22402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3066" y="2971800"/>
            <a:ext cx="50292" cy="1097280"/>
          </a:xfrm>
          <a:prstGeom prst="rect">
            <a:avLst/>
          </a:prstGeom>
          <a:solidFill>
            <a:srgbClr val="C85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3099816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474720"/>
            <a:ext cx="19659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Fundus image</a:t>
            </a:r>
            <a:br/>
            <a:r>
              <a:t>→ Specialist</a:t>
            </a:r>
            <a:br/>
            <a:r>
              <a:t>→ Interpretation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0032" y="2944368"/>
            <a:ext cx="2240280" cy="1097280"/>
          </a:xfrm>
          <a:prstGeom prst="roundRect">
            <a:avLst/>
          </a:prstGeom>
          <a:solidFill>
            <a:srgbClr val="E8F5F6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35440" y="2971800"/>
            <a:ext cx="50292" cy="109728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0032" y="3099816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AI-ASSISTED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474720"/>
            <a:ext cx="19659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Fundus image</a:t>
            </a:r>
            <a:br/>
            <a:r>
              <a:t>→ AI analysis</a:t>
            </a:r>
            <a:br/>
            <a:r>
              <a:t>→ Screening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rPr dirty="0"/>
              <a:t>Goal: improve accessibility and efficiency without replacing professional clinical judgment.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Introducing HYPERLUMA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An integrated retinal imaging and AI research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0116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8162" y="1531620"/>
            <a:ext cx="50292" cy="18288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36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FUNDUS</a:t>
            </a:r>
            <a:br/>
            <a:r>
              <a:t>IMAGING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1168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Conventional retinal visualization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423160"/>
            <a:ext cx="256032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508760"/>
            <a:ext cx="20116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66060" y="1517905"/>
            <a:ext cx="50292" cy="182880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636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HYPERSPECTRAL</a:t>
            </a:r>
            <a:br/>
            <a:r>
              <a:t>IMAGING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01168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Spatial + wavelength information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423160"/>
            <a:ext cx="256032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99651" y="1517905"/>
            <a:ext cx="20116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5166360" y="1508760"/>
            <a:ext cx="50292" cy="18288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2" y="1636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DEEP</a:t>
            </a:r>
            <a:br/>
            <a:r>
              <a:t>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2100" y="2070202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Multi-class image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78040" y="2423160"/>
            <a:ext cx="256032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1924" y="1508760"/>
            <a:ext cx="20116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98374" y="1508760"/>
            <a:ext cx="50292" cy="1828800"/>
          </a:xfrm>
          <a:prstGeom prst="rect">
            <a:avLst/>
          </a:prstGeom>
          <a:solidFill>
            <a:srgbClr val="44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6952" y="1636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EXPLAINABLE</a:t>
            </a:r>
            <a:br/>
            <a: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994" y="2029967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Visual model interpretation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40" y="2423160"/>
            <a:ext cx="256032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7690" y="1536193"/>
            <a:ext cx="20116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38360" y="1508760"/>
            <a:ext cx="50292" cy="182880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2952" y="16367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EDGE</a:t>
            </a:r>
            <a:br/>
            <a:r>
              <a:t>COMPUTING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011680"/>
            <a:ext cx="1737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Potential portable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0749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2263F"/>
                </a:solidFill>
                <a:latin typeface="Aptos"/>
              </a:defRPr>
            </a:pPr>
            <a:r>
              <a:t>Core concept:  Capture → Analyze → Explain → Screen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Six Screening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Experimental classification categories used by the AI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0292" cy="169164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t>AMD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Age-Related Macular Degeneration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832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50292" cy="169164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5453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t>Cataract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920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Included as an image-classification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832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50292" cy="169164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5453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t>Dementia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920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Retinal microvascular biomarker research category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3832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50292" cy="1691640"/>
          </a:xfrm>
          <a:prstGeom prst="rect">
            <a:avLst/>
          </a:prstGeom>
          <a:solidFill>
            <a:srgbClr val="C85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6027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t>Diabetic Retinopathy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9776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Diabetes-associated retinal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3832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474720"/>
            <a:ext cx="50292" cy="1691640"/>
          </a:xfrm>
          <a:prstGeom prst="rect">
            <a:avLst/>
          </a:prstGeom>
          <a:solidFill>
            <a:srgbClr val="D7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1" y="36027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t>Glaucoma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9776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Retinal / optic-nerve-related abnormalities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474720"/>
            <a:ext cx="33832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474720"/>
            <a:ext cx="50292" cy="169164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1" y="36027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63F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977639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Healthy / control retinal images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85652"/>
                </a:solidFill>
                <a:latin typeface="Aptos"/>
              </a:defRPr>
            </a:pPr>
            <a:r>
              <a:rPr dirty="0"/>
              <a:t>Clinical note: HYPERLUMA is an AI-assisted screening/research system, not a replacement for professional diagnosis.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HYPERLUMA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234440"/>
            <a:ext cx="50292" cy="64008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36245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01  IMAGE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737360"/>
            <a:ext cx="1005840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Fundus camera • RGB image • Hyperspectral imaging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874519"/>
            <a:ext cx="0" cy="118873"/>
          </a:xfrm>
          <a:prstGeom prst="line">
            <a:avLst/>
          </a:prstGeom>
          <a:ln w="1524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020824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020824"/>
            <a:ext cx="50292" cy="640080"/>
          </a:xfrm>
          <a:prstGeom prst="rect">
            <a:avLst/>
          </a:prstGeom>
          <a:solidFill>
            <a:srgbClr val="44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148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02  IMAGE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23744"/>
            <a:ext cx="1005840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Quality processing • Resize • Normalize • Spectral preprocessing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660904"/>
            <a:ext cx="0" cy="118872"/>
          </a:xfrm>
          <a:prstGeom prst="line">
            <a:avLst/>
          </a:prstGeom>
          <a:ln w="1524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807208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2807208"/>
            <a:ext cx="50292" cy="64008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2935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03  FEATURE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310128"/>
            <a:ext cx="1005840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Retinal structures • Vessels • Lesions • Spectral characteristics • ROI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447288"/>
            <a:ext cx="0" cy="118872"/>
          </a:xfrm>
          <a:prstGeom prst="line">
            <a:avLst/>
          </a:prstGeom>
          <a:ln w="1524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593592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593592"/>
            <a:ext cx="50292" cy="64008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3721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04  AI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096512"/>
            <a:ext cx="1005840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Swin • EfficientNetV2-S • ResNeXt50 • FNet • Perceiver IO • Ensembles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4233672"/>
            <a:ext cx="0" cy="118872"/>
          </a:xfrm>
          <a:prstGeom prst="line">
            <a:avLst/>
          </a:prstGeom>
          <a:ln w="1524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379976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379976"/>
            <a:ext cx="50292" cy="64008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5079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05  EXPLAINABLE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882896"/>
            <a:ext cx="1005840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Grad-CAM • Attention visualization • Important-region highlighting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5020056"/>
            <a:ext cx="0" cy="118872"/>
          </a:xfrm>
          <a:prstGeom prst="line">
            <a:avLst/>
          </a:prstGeom>
          <a:ln w="1524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" y="5166360"/>
            <a:ext cx="1033272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5166360"/>
            <a:ext cx="50292" cy="640080"/>
          </a:xfrm>
          <a:prstGeom prst="rect">
            <a:avLst/>
          </a:prstGeom>
          <a:solidFill>
            <a:srgbClr val="D7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52943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06 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669280"/>
            <a:ext cx="1005840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Predicted class • Confidence • Visual explanation • Screening 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RGB + Hyperspectral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Combining conventional retinal visualization with wavelength-dependent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9377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9214" y="1417320"/>
            <a:ext cx="50292" cy="338328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45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63F"/>
                </a:solidFill>
                <a:latin typeface="Aptos"/>
              </a:defRPr>
            </a:pPr>
            <a:r>
              <a:t>RGB FUNDUS IMAGING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6634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13D"/>
                </a:solidFill>
                <a:latin typeface="Aptos"/>
              </a:defRPr>
            </a:pPr>
            <a:r>
              <a:t>Conventional retinal imaging provides spatial and color information.</a:t>
            </a:r>
            <a:br/>
            <a:br/>
            <a:r>
              <a:t>• Retinal structure</a:t>
            </a:r>
            <a:br/>
            <a:r>
              <a:t>• Vessel appearance</a:t>
            </a:r>
            <a:br/>
            <a:r>
              <a:t>• Lesion visibility</a:t>
            </a:r>
            <a:br/>
            <a:r>
              <a:t>• Macular characteristics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49377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77940" y="1459382"/>
            <a:ext cx="50292" cy="338328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15453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63F"/>
                </a:solidFill>
                <a:latin typeface="Aptos"/>
              </a:defRPr>
            </a:pPr>
            <a:r>
              <a:t>HYPERSPECTRAL IMAGING (HSI)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920240"/>
            <a:ext cx="46634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13D"/>
                </a:solidFill>
                <a:latin typeface="Aptos"/>
              </a:defRPr>
            </a:pPr>
            <a:r>
              <a:t>Captures information across multiple wavelengths, producing a 3D spectral cube containing spatial + spectral information.</a:t>
            </a:r>
            <a:br/>
            <a:br/>
            <a:r>
              <a:t>• Wavelength-dependent characteristics</a:t>
            </a:r>
            <a:br/>
            <a:r>
              <a:t>• Spectral signatures</a:t>
            </a:r>
            <a:br/>
            <a:r>
              <a:t>• ROI-based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126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77482"/>
                </a:solidFill>
                <a:latin typeface="Aptos"/>
              </a:defRPr>
            </a:pPr>
            <a:r>
              <a:t>Richer information for AI-based retinal 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rPr dirty="0"/>
              <a:t>Hyperspectral Data &amp; Spectral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0519" y="1410286"/>
            <a:ext cx="19659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1053" y="1410286"/>
            <a:ext cx="50292" cy="123444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19072" y="1492582"/>
            <a:ext cx="1691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rPr dirty="0"/>
              <a:t>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1" y="2004646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rPr dirty="0"/>
              <a:t>Select region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34740" y="1965960"/>
            <a:ext cx="18288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82794" y="1410286"/>
            <a:ext cx="19659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09060" y="1371600"/>
            <a:ext cx="50292" cy="123444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24002" y="1522476"/>
            <a:ext cx="1691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rPr dirty="0"/>
              <a:t>SPECTRUM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8563" y="1933956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Extract reflectance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09127" y="1988820"/>
            <a:ext cx="18288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62461" y="1387426"/>
            <a:ext cx="19659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02088" y="1440180"/>
            <a:ext cx="50292" cy="123444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1621" y="1540062"/>
            <a:ext cx="1691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rPr dirty="0"/>
              <a:t>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1622" y="2127739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313D"/>
                </a:solidFill>
                <a:latin typeface="Aptos"/>
              </a:defRPr>
            </a:pPr>
            <a:r>
              <a:t>Plot spectral response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From raw collection to curated experimental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1417320"/>
            <a:ext cx="4572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92727" y="1490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69AF"/>
                </a:solidFill>
                <a:latin typeface="Aptos"/>
              </a:defRPr>
            </a:pPr>
            <a:r>
              <a:t>1,086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4327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313D"/>
                </a:solidFill>
                <a:latin typeface="Aptos"/>
              </a:defRPr>
            </a:pPr>
            <a:r>
              <a:t>Raw fundus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1207" y="2331720"/>
            <a:ext cx="5669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4087" y="2404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D7D"/>
                </a:solidFill>
                <a:latin typeface="Aptos"/>
              </a:defRPr>
            </a:pPr>
            <a:r>
              <a:t>SSIM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687" y="24414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313D"/>
                </a:solidFill>
                <a:latin typeface="Aptos"/>
              </a:defRPr>
            </a:pPr>
            <a:r>
              <a:t>Deduplication / similarity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567" y="3246120"/>
            <a:ext cx="676656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5447" y="3319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263F"/>
                </a:solidFill>
                <a:latin typeface="Aptos"/>
              </a:defRPr>
            </a:pPr>
            <a:r>
              <a:t>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047" y="3355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313D"/>
                </a:solidFill>
                <a:latin typeface="Aptos"/>
              </a:defRPr>
            </a:pPr>
            <a:r>
              <a:t>Minority-class augmentation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18207" y="4160520"/>
            <a:ext cx="7955279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1087" y="4233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3966E"/>
                </a:solidFill>
                <a:latin typeface="Aptos"/>
              </a:defRPr>
            </a:pPr>
            <a:r>
              <a:t>974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687" y="4270248"/>
            <a:ext cx="6126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313D"/>
                </a:solidFill>
                <a:latin typeface="Aptos"/>
              </a:defRPr>
            </a:pPr>
            <a:r>
              <a:t>Curated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t>DATASET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5074920"/>
            <a:ext cx="24231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34640" y="5074920"/>
            <a:ext cx="50292" cy="86868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9232" y="52029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5577840"/>
            <a:ext cx="21488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313D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5074920"/>
            <a:ext cx="24231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0" y="5074920"/>
            <a:ext cx="50292" cy="86868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33872" y="52029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5577840"/>
            <a:ext cx="21488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313D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5074920"/>
            <a:ext cx="24231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03920" y="5074920"/>
            <a:ext cx="50292" cy="86868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68512" y="52029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5577840"/>
            <a:ext cx="21488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313D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77482"/>
                </a:solidFill>
                <a:latin typeface="Aptos"/>
              </a:defRPr>
            </a:pPr>
            <a:r>
              <a:t>Preprocessing: resizing • normalization • augmentation • class balancing • train/validation/test separation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29542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Deep Learning Model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783080" cy="50292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1673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325880"/>
            <a:ext cx="2240280" cy="50292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78024" y="1417320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25880"/>
            <a:ext cx="1463040" cy="50292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18303" y="14173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TEST ACC.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325880"/>
            <a:ext cx="5212080" cy="50292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1343" y="1417320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783080" cy="576072"/>
          </a:xfrm>
          <a:prstGeom prst="rect">
            <a:avLst/>
          </a:prstGeom>
          <a:solidFill>
            <a:srgbClr val="E8F5F6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929384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6313D"/>
                </a:solidFill>
                <a:latin typeface="Aptos"/>
              </a:defRPr>
            </a:pPr>
            <a:r>
              <a:t>Swin Transformer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828800"/>
            <a:ext cx="2240280" cy="576072"/>
          </a:xfrm>
          <a:prstGeom prst="rect">
            <a:avLst/>
          </a:prstGeom>
          <a:solidFill>
            <a:srgbClr val="E8F5F6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79" y="192938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Hierarchical Vision Transformer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828800"/>
            <a:ext cx="1463040" cy="576072"/>
          </a:xfrm>
          <a:prstGeom prst="rect">
            <a:avLst/>
          </a:prstGeom>
          <a:solidFill>
            <a:srgbClr val="E8F5F6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59" y="19293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07D7D"/>
                </a:solidFill>
                <a:latin typeface="Aptos"/>
              </a:defRPr>
            </a:pPr>
            <a:r>
              <a:t>99.33%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1828800"/>
            <a:ext cx="5212080" cy="576072"/>
          </a:xfrm>
          <a:prstGeom prst="rect">
            <a:avLst/>
          </a:prstGeom>
          <a:solidFill>
            <a:srgbClr val="E8F5F6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199" y="19293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Best-performing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04872"/>
            <a:ext cx="1783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2505456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EfficientNetV2-S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2404872"/>
            <a:ext cx="2240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79" y="250545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404872"/>
            <a:ext cx="14630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25054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94.63%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9" y="2404872"/>
            <a:ext cx="5212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199" y="25054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Efficient / edge inference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980944"/>
            <a:ext cx="1783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3081527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ResNeXt50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980944"/>
            <a:ext cx="2240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68879" y="3081527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980944"/>
            <a:ext cx="14630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9159" y="308152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87.92%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9" y="2980944"/>
            <a:ext cx="5212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199" y="30815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Baseline comparison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557016"/>
            <a:ext cx="1783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3657600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FNet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3557016"/>
            <a:ext cx="2240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68879" y="36576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Fourier Mixing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557016"/>
            <a:ext cx="14630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09159" y="3657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3557016"/>
            <a:ext cx="5212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72199" y="3657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Alternative token mixing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133087"/>
            <a:ext cx="1783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4233672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Perceiver 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4133087"/>
            <a:ext cx="2240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68879" y="423367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Latent Attention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133087"/>
            <a:ext cx="14630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09159" y="4233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79" y="4133087"/>
            <a:ext cx="5212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199" y="4233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Alternative attention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4709160"/>
            <a:ext cx="1783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800" y="4809744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Hybrid Ensemble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23160" y="4709160"/>
            <a:ext cx="22402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68879" y="48097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Weighted Soft Voting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4709160"/>
            <a:ext cx="14630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09159" y="48097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94.6–95.9%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79" y="4709160"/>
            <a:ext cx="52120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199" y="48097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6313D"/>
                </a:solidFill>
                <a:latin typeface="Aptos"/>
              </a:defRPr>
            </a:pPr>
            <a:r>
              <a:t>Combined prediction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7D7D"/>
                </a:solidFill>
                <a:latin typeface="Aptos"/>
              </a:defRPr>
            </a:pPr>
            <a:r>
              <a:t>Best experimental result: Swin Transformer — 99.33% test accuracy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610819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77482"/>
                </a:solidFill>
                <a:latin typeface="Aptos"/>
              </a:defRPr>
            </a:pPr>
            <a:r>
              <a:t>Reported experimental results are not a substitute for external clinical validation.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AI Prediction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From retinal image to AI-assisted screening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828800"/>
            <a:ext cx="502920" cy="502920"/>
          </a:xfrm>
          <a:prstGeom prst="ellipse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IMAGE</a:t>
            </a:r>
            <a:br/>
            <a:r>
              <a:t>ACQUISITION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41832" y="2084831"/>
            <a:ext cx="1097280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84832" y="1828800"/>
            <a:ext cx="502920" cy="502920"/>
          </a:xfrm>
          <a:prstGeom prst="ellipse">
            <a:avLst/>
          </a:prstGeom>
          <a:solidFill>
            <a:srgbClr val="44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PRE-</a:t>
            </a:r>
            <a:br/>
            <a:r>
              <a:t>PROCESSING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15184" y="2084831"/>
            <a:ext cx="1097280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58184" y="1828800"/>
            <a:ext cx="502920" cy="502920"/>
          </a:xfrm>
          <a:prstGeom prst="ellipse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RGB +</a:t>
            </a:r>
            <a:br/>
            <a:r>
              <a:t>HSI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88536" y="2084831"/>
            <a:ext cx="1097280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31536" y="1828800"/>
            <a:ext cx="502920" cy="502920"/>
          </a:xfrm>
          <a:prstGeom prst="ellipse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DEEP</a:t>
            </a:r>
            <a:br/>
            <a:r>
              <a:t>LEARNING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1888" y="2084831"/>
            <a:ext cx="1097280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04888" y="1828800"/>
            <a:ext cx="502920" cy="502920"/>
          </a:xfrm>
          <a:prstGeom prst="ellipse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PREDICTION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2084831"/>
            <a:ext cx="1097280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778240" y="1828800"/>
            <a:ext cx="502920" cy="502920"/>
          </a:xfrm>
          <a:prstGeom prst="ellipse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XAI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084831"/>
            <a:ext cx="1097280" cy="0"/>
          </a:xfrm>
          <a:prstGeom prst="line">
            <a:avLst/>
          </a:prstGeom>
          <a:ln w="1905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451592" y="1828800"/>
            <a:ext cx="502920" cy="502920"/>
          </a:xfrm>
          <a:prstGeom prst="ellipse">
            <a:avLst/>
          </a:prstGeom>
          <a:solidFill>
            <a:srgbClr val="D7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487168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263F"/>
                </a:solidFill>
                <a:latin typeface="Aptos"/>
              </a:defRPr>
            </a:pPr>
            <a:r>
              <a:t>SCREENING</a:t>
            </a:r>
            <a:br/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3D"/>
                </a:solidFill>
                <a:latin typeface="Aptos"/>
              </a:defRPr>
            </a:pPr>
            <a:r>
              <a:t>AI output can include predicted class + confidence + visual explanation + report.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663440"/>
            <a:ext cx="8503920" cy="960120"/>
          </a:xfrm>
          <a:prstGeom prst="roundRect">
            <a:avLst/>
          </a:prstGeom>
          <a:solidFill>
            <a:srgbClr val="E8F5F6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28800" y="4663440"/>
            <a:ext cx="50292" cy="96012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93392" y="4791455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t>CLINICAL POSITIONING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51663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The system is designed for AI-assisted screening and decision support — not replacement of ophthalmological diagnosis.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Making model predictions visually interpretable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599"/>
            <a:ext cx="3337560" cy="455371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9214" y="1371600"/>
            <a:ext cx="50292" cy="416052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9961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t>1  ORIGINAL FUNDUS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47978" y="3226777"/>
            <a:ext cx="32004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1371600"/>
            <a:ext cx="333756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3682" y="1371600"/>
            <a:ext cx="50292" cy="416052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149961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rPr dirty="0"/>
              <a:t>2  </a:t>
            </a:r>
            <a:r>
              <a:rPr lang="en-US" dirty="0"/>
              <a:t>HSI BAND AND ROI</a:t>
            </a:r>
            <a:endParaRPr dirty="0"/>
          </a:p>
        </p:txBody>
      </p:sp>
      <p:cxnSp>
        <p:nvCxnSpPr>
          <p:cNvPr id="24" name="Connector 23"/>
          <p:cNvCxnSpPr/>
          <p:nvPr/>
        </p:nvCxnSpPr>
        <p:spPr>
          <a:xfrm>
            <a:off x="7772400" y="3226777"/>
            <a:ext cx="320039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70747" y="1380744"/>
            <a:ext cx="333756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56447" y="1380744"/>
            <a:ext cx="50292" cy="416052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149961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rPr dirty="0"/>
              <a:t>3</a:t>
            </a:r>
            <a:r>
              <a:rPr lang="en-US" dirty="0"/>
              <a:t> EXPLAINABLE AI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6313D"/>
                </a:solidFill>
                <a:latin typeface="Aptos"/>
              </a:defRPr>
            </a:pPr>
            <a:r>
              <a:t>XAI can improve transparency, support research inspection, and help identify potential model errors.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BC7053-7F0E-FDAC-AC7D-4FA6B1BF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47" y="1874520"/>
            <a:ext cx="3002516" cy="332306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195FC03-1DE0-925F-12B9-6224F6470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092" y="1819656"/>
            <a:ext cx="2921509" cy="38156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0D39D0C-D851-1B40-AFE3-A7392E01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476486" y="1901952"/>
            <a:ext cx="2926082" cy="33911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HYPERLUMA / VisionAI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Desktop interface concept for practical retinal image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09928"/>
            <a:ext cx="7315200" cy="4800600"/>
          </a:xfrm>
          <a:prstGeom prst="roundRect">
            <a:avLst/>
          </a:prstGeom>
          <a:solidFill>
            <a:srgbClr val="FAFCFD"/>
          </a:solidFill>
          <a:ln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00" cy="50292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HYPERLUMA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5331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ptos"/>
              </a:defRPr>
            </a:pPr>
            <a:r>
              <a:t>Patient ID: P-001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6597" y="2121408"/>
            <a:ext cx="3337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30565" y="2121408"/>
            <a:ext cx="50292" cy="9144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78037" y="22585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9245" y="257087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313D"/>
                </a:solidFill>
                <a:latin typeface="Aptos"/>
              </a:defRPr>
            </a:pPr>
            <a:r>
              <a:t>Swin Transformer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6597" y="4050373"/>
            <a:ext cx="3337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555711" y="4069080"/>
            <a:ext cx="50292" cy="9144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23757" y="409046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63F"/>
                </a:solidFill>
                <a:latin typeface="Aptos"/>
              </a:defRPr>
            </a:pPr>
            <a:r>
              <a:t>XAI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291" y="45034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313D"/>
                </a:solidFill>
                <a:latin typeface="Aptos"/>
              </a:defRPr>
            </a:pPr>
            <a:r>
              <a:t>Generate attention heatmap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263F"/>
                </a:solidFill>
                <a:latin typeface="Aptos"/>
              </a:defRPr>
            </a:pPr>
            <a:r>
              <a:t>APPLICATION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9659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Patient ID management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Fundus image upload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Live camera / video input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AI model selection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Disease classification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Confidence visualization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XAI heatmaps</a:t>
            </a:r>
          </a:p>
          <a:p>
            <a:pPr>
              <a:spcAft>
                <a:spcPts val="900"/>
              </a:spcAft>
              <a:defRPr sz="1200">
                <a:solidFill>
                  <a:srgbClr val="26313D"/>
                </a:solidFill>
                <a:latin typeface="Aptos"/>
              </a:defRPr>
            </a:pPr>
            <a:r>
              <a:t>• Screening report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77482"/>
                </a:solidFill>
                <a:latin typeface="Aptos"/>
              </a:defRPr>
            </a:pPr>
            <a:r>
              <a:t>Light clinical interface • Desktop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Portable Retinal AI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2"/>
                </a:solidFill>
                <a:latin typeface="Aptos"/>
              </a:defRPr>
            </a:pPr>
            <a:r>
              <a:t>Edge deployment concept using Raspberry Pi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331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0292" cy="150876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3677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63F"/>
                </a:solidFill>
                <a:latin typeface="Aptos"/>
              </a:defRPr>
            </a:pPr>
            <a:r>
              <a:t>FUNDUS</a:t>
            </a:r>
            <a:br/>
            <a:r>
              <a:t>CAMERA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267712"/>
            <a:ext cx="36576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508760"/>
            <a:ext cx="2331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50292" cy="150876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63677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63F"/>
                </a:solidFill>
                <a:latin typeface="Aptos"/>
              </a:defRPr>
            </a:pPr>
            <a:r>
              <a:t>RASPBERRY</a:t>
            </a:r>
            <a:br/>
            <a:r>
              <a:t>PI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2267712"/>
            <a:ext cx="36576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508760"/>
            <a:ext cx="2331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0292" cy="15087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163677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63F"/>
                </a:solidFill>
                <a:latin typeface="Aptos"/>
              </a:defRPr>
            </a:pPr>
            <a:r>
              <a:t>7-INCH</a:t>
            </a:r>
            <a:br/>
            <a:r>
              <a:t>TOUCHSCREEN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59" y="2267712"/>
            <a:ext cx="365761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59" y="1508760"/>
            <a:ext cx="2331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59" y="1508760"/>
            <a:ext cx="50292" cy="150876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1" y="163677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63F"/>
                </a:solidFill>
                <a:latin typeface="Aptos"/>
              </a:defRPr>
            </a:pPr>
            <a:r>
              <a:t>PORTABLE</a:t>
            </a:r>
            <a:br/>
            <a:r>
              <a:t>ENCLOSURE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07D7D"/>
                </a:solidFill>
                <a:latin typeface="Aptos"/>
              </a:defRPr>
            </a:pPr>
            <a:r>
              <a:t>↓  Portable AI Screening Station 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05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0292" cy="132588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28853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t>PORTABLE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63440"/>
            <a:ext cx="3063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Transportable to screening camps and remote locations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1605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59" y="4160520"/>
            <a:ext cx="50292" cy="132588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1" y="428853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t>EDGE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4663440"/>
            <a:ext cx="3063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Potential for local inference and reduced cloud dependency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60520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4160520"/>
            <a:ext cx="50292" cy="132588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428853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263F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663440"/>
            <a:ext cx="30632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Touchscreen-based user interaction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77482"/>
                </a:solidFill>
                <a:latin typeface="Aptos"/>
              </a:defRPr>
            </a:pPr>
            <a:r>
              <a:t>Future direction: model optimization and quantization for efficient edge inference.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  <a:latin typeface="Aptos"/>
              </a:defRPr>
            </a:pPr>
            <a:r>
              <a:t>Results, Impact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606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0292" cy="123444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624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2263F"/>
                </a:solidFill>
                <a:latin typeface="Aptos"/>
              </a:defRPr>
            </a:pPr>
            <a:r>
              <a:t>99.33%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373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Swin Transformer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606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50292" cy="123444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3624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2263F"/>
                </a:solidFill>
                <a:latin typeface="Aptos"/>
              </a:defRPr>
            </a:pPr>
            <a:r>
              <a:t>94.63%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7373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EfficientNetV2-S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34440"/>
            <a:ext cx="2606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0292" cy="123444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3624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2263F"/>
                </a:solidFill>
                <a:latin typeface="Aptos"/>
              </a:defRPr>
            </a:pPr>
            <a:r>
              <a:t>87.92%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7373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ResNeXt50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34440"/>
            <a:ext cx="26060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234440"/>
            <a:ext cx="50292" cy="123444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00032" y="13624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2263F"/>
                </a:solidFill>
                <a:latin typeface="Aptos"/>
              </a:defRPr>
            </a:pPr>
            <a:r>
              <a:t>94.6–95.9%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7373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6313D"/>
                </a:solidFill>
                <a:latin typeface="Aptos"/>
              </a:defRPr>
            </a:pPr>
            <a:r>
              <a:t>Hybrid Ensemble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88920"/>
            <a:ext cx="521208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788920"/>
            <a:ext cx="50292" cy="242316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29169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63F"/>
                </a:solidFill>
                <a:latin typeface="Aptos"/>
              </a:defRPr>
            </a:pPr>
            <a:r>
              <a:t>POTENTIAL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291839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13D"/>
                </a:solidFill>
                <a:latin typeface="Aptos"/>
              </a:defRPr>
            </a:pPr>
            <a:r>
              <a:t>• Preliminary retinal screening</a:t>
            </a:r>
            <a:br/>
            <a:r>
              <a:t>• Rural/community screening research</a:t>
            </a:r>
            <a:br/>
            <a:r>
              <a:t>• Biomedical AI research</a:t>
            </a:r>
            <a:br/>
            <a:r>
              <a:t>• Retinal image analysis</a:t>
            </a:r>
            <a:br/>
            <a:r>
              <a:t>• AI-assisted healthcare workflows</a:t>
            </a:r>
            <a:br/>
            <a:r>
              <a:t>• Portable screening research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788920"/>
            <a:ext cx="53492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2788920"/>
            <a:ext cx="50292" cy="24231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63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291839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26313D"/>
                </a:solidFill>
                <a:latin typeface="Aptos"/>
              </a:defRPr>
            </a:pPr>
            <a:r>
              <a:t>01  Larger and more diverse datasets</a:t>
            </a:r>
            <a:br/>
            <a:r>
              <a:t>02  Advanced image quality assessment</a:t>
            </a:r>
            <a:br/>
            <a:r>
              <a:t>03  Improved retinal segmentation</a:t>
            </a:r>
            <a:br/>
            <a:r>
              <a:t>04  Lesion localization</a:t>
            </a:r>
            <a:br/>
            <a:r>
              <a:t>05  Hyperspectral-AI integration</a:t>
            </a:r>
            <a:br/>
            <a:r>
              <a:t>06  Edge optimization + external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5652"/>
                </a:solidFill>
                <a:latin typeface="Aptos"/>
              </a:defRPr>
            </a:pPr>
            <a:r>
              <a:t>Results are experimental; clinical deployment requires external validation and appropriate regulatory/clinical evaluation.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7D7D"/>
                </a:solidFill>
                <a:latin typeface="Aptos"/>
              </a:defRPr>
            </a:pPr>
            <a:r>
              <a:t>HYPERLUMA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2263F"/>
                </a:solidFill>
                <a:latin typeface="Aptos"/>
              </a:defRPr>
            </a:pPr>
            <a:r>
              <a:t>From Retinal Images to Explainable AI-Assisted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50292" cy="123444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FUNDUS</a:t>
            </a:r>
            <a:br/>
            <a:r>
              <a:t>IMAGING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761488"/>
            <a:ext cx="27432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79" y="214884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79" y="2148840"/>
            <a:ext cx="50292" cy="123444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0672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HYPERSPECTRAL</a:t>
            </a:r>
            <a:br/>
            <a:r>
              <a:t>IMAGING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0" y="2761488"/>
            <a:ext cx="274319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214884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57800" y="2148840"/>
            <a:ext cx="50292" cy="123444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DEEP</a:t>
            </a:r>
            <a:br/>
            <a:r>
              <a:t>LEARNING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2761488"/>
            <a:ext cx="274320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19" y="214884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19" y="2148840"/>
            <a:ext cx="50292" cy="1234440"/>
          </a:xfrm>
          <a:prstGeom prst="rect">
            <a:avLst/>
          </a:prstGeom>
          <a:solidFill>
            <a:srgbClr val="44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54111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EXPLAINABLE</a:t>
            </a:r>
            <a:br/>
            <a:r>
              <a:t>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0" y="2761488"/>
            <a:ext cx="274319" cy="0"/>
          </a:xfrm>
          <a:prstGeom prst="line">
            <a:avLst/>
          </a:prstGeom>
          <a:ln w="25400">
            <a:solidFill>
              <a:srgbClr val="D2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21240" y="2148840"/>
            <a:ext cx="2011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921240" y="2148840"/>
            <a:ext cx="50292" cy="1234440"/>
          </a:xfrm>
          <a:prstGeom prst="rect">
            <a:avLst/>
          </a:prstGeom>
          <a:solidFill>
            <a:srgbClr val="43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85832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EDGE</a:t>
            </a:r>
            <a:br/>
            <a:r>
              <a:t>COMPUTING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6313D"/>
                </a:solidFill>
                <a:latin typeface="Aptos"/>
              </a:defRPr>
            </a:pPr>
            <a:r>
              <a:t>AI-assisted retinal screening for more accessible and interpretable healthcare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D7D"/>
                </a:solidFill>
                <a:latin typeface="Aptos"/>
              </a:defRPr>
            </a:pPr>
            <a:r>
              <a:t>IMAGE  →  SPECTRAL + VISUAL INFORMATION  →  AI  →  EXPLANATION  →  SCREENING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5486400"/>
            <a:ext cx="6400800" cy="594360"/>
          </a:xfrm>
          <a:prstGeom prst="roundRect">
            <a:avLst/>
          </a:prstGeom>
          <a:solidFill>
            <a:srgbClr val="E8F5F6"/>
          </a:solidFill>
          <a:ln w="10160">
            <a:solidFill>
              <a:srgbClr val="D2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80360" y="5486400"/>
            <a:ext cx="50292" cy="594360"/>
          </a:xfrm>
          <a:prstGeom prst="rect">
            <a:avLst/>
          </a:prstGeom>
          <a:solidFill>
            <a:srgbClr val="00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44952" y="561441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2263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D2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6547104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77482"/>
                </a:solidFill>
                <a:latin typeface="Aptos"/>
              </a:defRPr>
            </a:pPr>
            <a:r>
              <a:t>HYPERLUMA / VisionAI  •  SMART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774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1010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Utkarsha Bhadakwade</dc:creator>
  <cp:keywords/>
  <dc:description>generated using python-pptx</dc:description>
  <cp:lastModifiedBy>Utkarsha Bhadakwade</cp:lastModifiedBy>
  <cp:revision>2</cp:revision>
  <dcterms:created xsi:type="dcterms:W3CDTF">2013-01-27T09:14:16Z</dcterms:created>
  <dcterms:modified xsi:type="dcterms:W3CDTF">2026-10-07T08:37:00Z</dcterms:modified>
  <cp:category/>
</cp:coreProperties>
</file>